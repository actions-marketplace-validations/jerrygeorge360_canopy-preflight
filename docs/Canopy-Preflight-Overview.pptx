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0870b6f9034bca" /><Relationship Type="http://schemas.openxmlformats.org/officeDocument/2006/relationships/extended-properties" Target="/docProps/app.xml" Id="R913819d8ac404cf3" /><Relationship Type="http://schemas.openxmlformats.org/officeDocument/2006/relationships/officeDocument" Target="/ppt/presentation.xml" Id="Rde053188ce594f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2689064e1645f4"/>
  </p:sldMasterIdLst>
  <p:notesMasterIdLst>
    <p:notesMasterId xmlns:r="http://schemas.openxmlformats.org/officeDocument/2006/relationships" r:id="Rf4e7bb378e7648e7"/>
  </p:notesMasterIdLst>
  <p:sldIdLst>
    <p:sldId xmlns:r="http://schemas.openxmlformats.org/officeDocument/2006/relationships" id="256" r:id="Rcb7cc8088f264231"/>
    <p:sldId xmlns:r="http://schemas.openxmlformats.org/officeDocument/2006/relationships" id="257" r:id="R8579c83c8d084919"/>
    <p:sldId xmlns:r="http://schemas.openxmlformats.org/officeDocument/2006/relationships" id="258" r:id="R95ebe6b187f34b1a"/>
    <p:sldId xmlns:r="http://schemas.openxmlformats.org/officeDocument/2006/relationships" id="259" r:id="R2fcaacbff2b54981"/>
    <p:sldId xmlns:r="http://schemas.openxmlformats.org/officeDocument/2006/relationships" id="260" r:id="R0613b0e485534513"/>
    <p:sldId xmlns:r="http://schemas.openxmlformats.org/officeDocument/2006/relationships" id="261" r:id="R7bec4845ece5473c"/>
    <p:sldId xmlns:r="http://schemas.openxmlformats.org/officeDocument/2006/relationships" id="262" r:id="R4114dabde66f4f1e"/>
    <p:sldId xmlns:r="http://schemas.openxmlformats.org/officeDocument/2006/relationships" id="263" r:id="R7df4eda16e534c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405aa5c1e24550" /><Relationship Type="http://schemas.openxmlformats.org/officeDocument/2006/relationships/slideMaster" Target="/ppt/slideMasters/slideMaster1.xml" Id="R252689064e1645f4" /><Relationship Type="http://schemas.openxmlformats.org/officeDocument/2006/relationships/notesMaster" Target="/ppt/notesMasters/notesMaster1.xml" Id="Rf4e7bb378e7648e7" /><Relationship Type="http://schemas.openxmlformats.org/officeDocument/2006/relationships/presProps" Target="/ppt/presProps.xml" Id="R99844c6e805c4a83" /><Relationship Type="http://schemas.openxmlformats.org/officeDocument/2006/relationships/tableStyles" Target="/ppt/tableStyles.xml" Id="R0e324ee9fe6c4987" /><Relationship Type="http://schemas.openxmlformats.org/officeDocument/2006/relationships/slide" Target="/ppt/slides/slide1.xml" Id="Rcb7cc8088f264231" /><Relationship Type="http://schemas.openxmlformats.org/officeDocument/2006/relationships/slide" Target="/ppt/slides/slide2.xml" Id="R8579c83c8d084919" /><Relationship Type="http://schemas.openxmlformats.org/officeDocument/2006/relationships/slide" Target="/ppt/slides/slide3.xml" Id="R95ebe6b187f34b1a" /><Relationship Type="http://schemas.openxmlformats.org/officeDocument/2006/relationships/slide" Target="/ppt/slides/slide4.xml" Id="R2fcaacbff2b54981" /><Relationship Type="http://schemas.openxmlformats.org/officeDocument/2006/relationships/slide" Target="/ppt/slides/slide5.xml" Id="R0613b0e485534513" /><Relationship Type="http://schemas.openxmlformats.org/officeDocument/2006/relationships/slide" Target="/ppt/slides/slide6.xml" Id="R7bec4845ece5473c" /><Relationship Type="http://schemas.openxmlformats.org/officeDocument/2006/relationships/slide" Target="/ppt/slides/slide7.xml" Id="R4114dabde66f4f1e" /><Relationship Type="http://schemas.openxmlformats.org/officeDocument/2006/relationships/slide" Target="/ppt/slides/slide8.xml" Id="R7df4eda16e534c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2ccf187ffc4a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80c06d950f4a20" /><Relationship Type="http://schemas.openxmlformats.org/officeDocument/2006/relationships/notesMaster" Target="/ppt/notesMasters/notesMaster1.xml" Id="Rf14025e1d41342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387ebbf2c34be7" /><Relationship Type="http://schemas.openxmlformats.org/officeDocument/2006/relationships/notesMaster" Target="/ppt/notesMasters/notesMaster1.xml" Id="R5cbc50f73db24c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6e0b110e2c4fc8" /><Relationship Type="http://schemas.openxmlformats.org/officeDocument/2006/relationships/notesMaster" Target="/ppt/notesMasters/notesMaster1.xml" Id="R10e80ed7bb3349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2309e22ac74b7a" /><Relationship Type="http://schemas.openxmlformats.org/officeDocument/2006/relationships/notesMaster" Target="/ppt/notesMasters/notesMaster1.xml" Id="R3898e9a146af46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d96dca96f34868" /><Relationship Type="http://schemas.openxmlformats.org/officeDocument/2006/relationships/notesMaster" Target="/ppt/notesMasters/notesMaster1.xml" Id="R3b00078088d941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c79ae22a8b45ea" /><Relationship Type="http://schemas.openxmlformats.org/officeDocument/2006/relationships/notesMaster" Target="/ppt/notesMasters/notesMaster1.xml" Id="Ra9093db156c447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ae09208cd349c2" /><Relationship Type="http://schemas.openxmlformats.org/officeDocument/2006/relationships/notesMaster" Target="/ppt/notesMasters/notesMaster1.xml" Id="R27aabe2d1c6f42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8d5506ede84ff3" /><Relationship Type="http://schemas.openxmlformats.org/officeDocument/2006/relationships/notesMaster" Target="/ppt/notesMasters/notesMaster1.xml" Id="Rbd6c17e5866f48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the v0.2.0 release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checks table and docs/rules/CNPY001.md through CNPY004.md.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docs/rules/README.md.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 and docs/OUTPUT_CONTRACT.md.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docs/OUTPUT_CONTRACT.md and docs/rules/README.md.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SECURITY.md and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performed against canopy-network/canopy commit 5820274b55dcc22b08c48ed7e4c76d953c5e0da6, plugin/go. Local make check passed with Go 1.26.0.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docs/GITHUB_ACTION.md.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429e3672f49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c5cf3e5fd43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eaf87e38646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e58f847c144a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aafbb39194e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73ddddfc34a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20BBCAE-479C-4242-A96C-8F2D43BB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0C1915-25D9-4FAF-8704-CE89F96DF4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A6132AB-D1A4-4B64-B2A6-1BF20F93AF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A89ADAB-022E-4C69-97FC-B40BAEAC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FAD236-6F88-4979-AF39-0D9BF5988A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6EB1816-B7D2-4D70-B13F-1CA67EE0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EA75CD-7786-4603-8DA1-48FB31DE00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78D543C-CE13-4447-A45F-2868723EDB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1389E91-9152-47BF-9EFF-CD990C95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897910F-548C-4694-8A4E-F96943B5DF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86DDC9-794C-41AE-99AD-52AA51089C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35B13D-FAC7-4D92-A32F-D120161344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33B670F-4B5B-45F9-AADA-EAB930E0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29225B-95A0-485E-843B-17CCAD382B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9D36AF-6D2F-4DEB-B8B9-46DB028BA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02edde9b174ea1" /><Relationship Type="http://schemas.openxmlformats.org/officeDocument/2006/relationships/slideLayout" Target="/ppt/slideLayouts/slideLayout1.xml" Id="R0640800f282f45c6" /><Relationship Type="http://schemas.openxmlformats.org/officeDocument/2006/relationships/slideLayout" Target="/ppt/slideLayouts/slideLayout2.xml" Id="R686b81e1602443a0" /><Relationship Type="http://schemas.openxmlformats.org/officeDocument/2006/relationships/slideLayout" Target="/ppt/slideLayouts/slideLayout3.xml" Id="R7fb853fc26c44cd5" /><Relationship Type="http://schemas.openxmlformats.org/officeDocument/2006/relationships/slideLayout" Target="/ppt/slideLayouts/slideLayout4.xml" Id="Rb179d1419d974502" /><Relationship Type="http://schemas.openxmlformats.org/officeDocument/2006/relationships/slideLayout" Target="/ppt/slideLayouts/slideLayout5.xml" Id="R9289a438b4464d0b" /><Relationship Type="http://schemas.openxmlformats.org/officeDocument/2006/relationships/slideLayout" Target="/ppt/slideLayouts/slideLayout6.xml" Id="R1f630f9fc9884a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40800f282f45c6"/>
    <p:sldLayoutId xmlns:r="http://schemas.openxmlformats.org/officeDocument/2006/relationships" id="2147483650" r:id="R686b81e1602443a0"/>
    <p:sldLayoutId xmlns:r="http://schemas.openxmlformats.org/officeDocument/2006/relationships" id="2147483651" r:id="R7fb853fc26c44cd5"/>
    <p:sldLayoutId xmlns:r="http://schemas.openxmlformats.org/officeDocument/2006/relationships" id="2147483652" r:id="Rb179d1419d974502"/>
    <p:sldLayoutId xmlns:r="http://schemas.openxmlformats.org/officeDocument/2006/relationships" id="2147483653" r:id="R9289a438b4464d0b"/>
    <p:sldLayoutId xmlns:r="http://schemas.openxmlformats.org/officeDocument/2006/relationships" id="2147483654" r:id="R1f630f9fc9884a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65ef29951e4bd0" /><Relationship Type="http://schemas.openxmlformats.org/officeDocument/2006/relationships/notesSlide" Target="/ppt/notesSlides/notesSlide1.xml" Id="Ra0f4cdb89fa944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ee96f855194499" /><Relationship Type="http://schemas.openxmlformats.org/officeDocument/2006/relationships/notesSlide" Target="/ppt/notesSlides/notesSlide2.xml" Id="R489f9c8d91404a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005bdc14b4c2d" /><Relationship Type="http://schemas.openxmlformats.org/officeDocument/2006/relationships/notesSlide" Target="/ppt/notesSlides/notesSlide3.xml" Id="R17820754719341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2e93f9ada7491c" /><Relationship Type="http://schemas.openxmlformats.org/officeDocument/2006/relationships/notesSlide" Target="/ppt/notesSlides/notesSlide4.xml" Id="Ra4b1f3b1df504b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cb16056304802" /><Relationship Type="http://schemas.openxmlformats.org/officeDocument/2006/relationships/notesSlide" Target="/ppt/notesSlides/notesSlide5.xml" Id="Rbe80b7a7ee754a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754382ba584808" /><Relationship Type="http://schemas.openxmlformats.org/officeDocument/2006/relationships/notesSlide" Target="/ppt/notesSlides/notesSlide6.xml" Id="Rac71491c707648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736af3e0be4c2d" /><Relationship Type="http://schemas.openxmlformats.org/officeDocument/2006/relationships/notesSlide" Target="/ppt/notesSlides/notesSlide7.xml" Id="R16926432950941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53f65e31b42dd" /><Relationship Type="http://schemas.openxmlformats.org/officeDocument/2006/relationships/notesSlide" Target="/ppt/notesSlides/notesSlide8.xml" Id="R8204d194ecd84f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6BB7A-E720-45DA-BD73-F7E2C599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C390C-6A41-4BFA-AFCC-3D6CAB00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Canopy Preflight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2E7C0-0DF8-4D6C-9B9A-79B3F8A5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7D2DA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C7D2DA"/>
                </a:solidFill>
                <a:latin typeface="Nimbus Sans"/>
                <a:ea typeface="Nimbus Sans"/>
                <a:cs typeface="Nimbus Sans"/>
              </a:rPr>
              <a:t>Compatibility checks for Canopy plugins and forks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E50EA-F684-497E-A277-5FB6B07A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6E5B3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86E5B3"/>
                </a:solidFill>
                <a:latin typeface="Nimbus Sans"/>
                <a:ea typeface="Nimbus Sans"/>
                <a:cs typeface="Nimbus Sans"/>
              </a:rPr>
              <a:t>Canopy Doctor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CF0A6-542A-4C58-A35D-25882972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7B5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9AA7B5"/>
                </a:solidFill>
                <a:latin typeface="Nimbus Sans"/>
                <a:ea typeface="Nimbus Sans"/>
                <a:cs typeface="Nimbus Sans"/>
              </a:rPr>
              <a:t>v0.2.0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C260F-D3E5-4353-9D74-50518F8F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8577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52235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canopy-doctor check ./plugin/go</a:t>
            </a:r>
          </a:p>
        </p:txBody>
      </p:sp>
    </p:spTree>
    <p:extLst>
      <p:ext uri="{BB962C8B-B14F-4D97-AF65-F5344CB8AC3E}">
        <p14:creationId xmlns:p14="http://schemas.microsoft.com/office/powerpoint/2010/main" val="966068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477250" y="30099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53C3C"/>
            </a:solidFill>
            <a:prstDash val="solid"/>
            <a:tailEnd type="triangle" w="sm" len="sm"/>
          </a:ln>
        </p:spPr>
      </p:cxnSp>
      <p:cxnSp>
        <p:nvCxnSpPr>
          <p:cNvPr id="1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30099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71"/>
            </a:solidFill>
            <a:prstDash val="solid"/>
            <a:tailEnd type="triangle" w="sm" len="sm"/>
          </a:ln>
        </p:spPr>
      </p:cxnSp>
      <p:cxnSp>
        <p:nvCxnSpPr>
          <p:cNvPr id="1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30099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71"/>
            </a:solidFill>
            <a:prstDash val="solid"/>
            <a:tailEnd type="triangle" w="sm" len="sm"/>
          </a:ln>
        </p:spPr>
      </p:cxnSp>
      <p:sp>
        <p:nvSpPr>
          <p:cNvPr id="1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EA91E5C-D74C-4945-B5A7-22E39FAA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91B34-0B1B-4CDE-8AD2-3269331E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Compatibility errors reach release 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37B74-2F61-4655-AE95-7C369638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F0CB8-59A5-4013-9823-79F3D90A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906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A plugin can compile and still disagree with Canopy at the protocol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8A430-40E9-40D3-B7C1-9B6235EC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095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9525">
            <a:solidFill>
              <a:srgbClr val="E7F0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Plugin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DB5D1-8447-4F08-92AB-60C6C6C8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381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DDF4E7"/>
          </a:solidFill>
          <a:ln xmlns:a="http://schemas.openxmlformats.org/drawingml/2006/main" w="9525">
            <a:solidFill>
              <a:srgbClr val="DDF4E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Config and descriptors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216D6-43B9-4E17-B33B-5A035EB2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2095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9ECEF"/>
          </a:solidFill>
          <a:ln xmlns:a="http://schemas.openxmlformats.org/drawingml/2006/main" w="9525">
            <a:solidFill>
              <a:srgbClr val="E9ECE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Canopy handshake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2478A-17E6-4213-AE19-0D49787A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2095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CE5E5"/>
          </a:solidFill>
          <a:ln xmlns:a="http://schemas.openxmlformats.org/drawingml/2006/main" w="9525">
            <a:solidFill>
              <a:srgbClr val="FCE5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3C3C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C53C3C"/>
                </a:solidFill>
                <a:latin typeface="Nimbus Sans"/>
                <a:ea typeface="Nimbus Sans"/>
                <a:cs typeface="Nimbus Sans"/>
              </a:rPr>
              <a:t>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2F25C-0343-48DD-A61E-CE734259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52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53C3C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C53C3C"/>
                </a:solidFill>
                <a:latin typeface="Nimbus Sans"/>
                <a:ea typeface="Nimbus Sans"/>
                <a:cs typeface="Nimbus Sans"/>
              </a:rPr>
              <a:t>Registry mismatch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C4455-206E-45C1-B203-7FFE9230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52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53C3C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C53C3C"/>
                </a:solidFill>
                <a:latin typeface="Nimbus Sans"/>
                <a:ea typeface="Nimbus Sans"/>
                <a:cs typeface="Nimbus Sans"/>
              </a:rPr>
              <a:t>Reserved prefix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01FF2-EBBF-460C-BAF9-C80E4F6B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613E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1613E"/>
                </a:solidFill>
                <a:latin typeface="Nimbus Sans"/>
                <a:ea typeface="Nimbus Sans"/>
                <a:cs typeface="Nimbus Sans"/>
              </a:rPr>
              <a:t>Preflight moves these checks before the release decision.</a:t>
            </a:r>
          </a:p>
        </p:txBody>
      </p:sp>
    </p:spTree>
    <p:extLst>
      <p:ext uri="{BB962C8B-B14F-4D97-AF65-F5344CB8AC3E}">
        <p14:creationId xmlns:p14="http://schemas.microsoft.com/office/powerpoint/2010/main" val="1095214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B22E4CD-7ABD-44BF-AD04-3DD21F56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334E6-BCFD-48F9-879A-68B9A916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Four checks in the current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7A3FD-FEAF-4903-A68D-2F7F04D1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23900" y="1381125"/>
          <a:ext xmlns:a="http://schemas.openxmlformats.org/drawingml/2006/main" cx="107442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476500"/>
                <a:gridCol w="6553200"/>
              </a:tblGrid>
              <a:tr h="7810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Rule</a:t>
                      </a:r>
                    </a:p>
                  </a:txBody>
                  <a:tcPr marL="91440" marR="91440" marT="45720" marB="45720" anchor="ctr">
                    <a:solidFill>
                      <a:srgbClr val="0B12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Area</a:t>
                      </a:r>
                    </a:p>
                  </a:txBody>
                  <a:tcPr marL="91440" marR="91440" marT="45720" marB="45720" anchor="ctr">
                    <a:solidFill>
                      <a:srgbClr val="0B12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Blocking condition</a:t>
                      </a:r>
                    </a:p>
                  </a:txBody>
                  <a:tcPr marL="91440" marR="91440" marT="45720" marB="45720" anchor="ctr">
                    <a:solidFill>
                      <a:srgbClr val="0B1220"/>
                    </a:solidFill>
                  </a:tcPr>
                </a:tc>
              </a:tr>
              <a:tr h="7810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0B122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CNPY001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0B122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Transactions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0B122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Proven registry or type URL mismatch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0B122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CNPY002</a:t>
                      </a:r>
                    </a:p>
                  </a:txBody>
                  <a:tcPr marL="91440" marR="91440" marT="45720" marB="45720" anchor="ctr">
                    <a:solidFill>
                      <a:srgbClr val="EDF3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0B122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State prefixes</a:t>
                      </a:r>
                    </a:p>
                  </a:txBody>
                  <a:tcPr marL="91440" marR="91440" marT="45720" marB="45720" anchor="ctr">
                    <a:solidFill>
                      <a:srgbClr val="EDF3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0B122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One-byte prefix in reserved range 1 to 15</a:t>
                      </a:r>
                    </a:p>
                  </a:txBody>
                  <a:tcPr marL="91440" marR="91440" marT="45720" marB="45720" anchor="ctr">
                    <a:solidFill>
                      <a:srgbClr val="EDF3EF"/>
                    </a:solidFill>
                  </a:tcPr>
                </a:tc>
              </a:tr>
              <a:tr h="7810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0B122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CNPY003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0B122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Protobuf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0B122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Invalid graph or incompatible Account field 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0B122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CNPY004</a:t>
                      </a:r>
                    </a:p>
                  </a:txBody>
                  <a:tcPr marL="91440" marR="91440" marT="45720" marB="45720" anchor="ctr">
                    <a:solidFill>
                      <a:srgbClr val="EDF3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0B122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Fork drift</a:t>
                      </a:r>
                    </a:p>
                  </a:txBody>
                  <a:tcPr marL="91440" marR="91440" marT="45720" marB="45720" anchor="ctr">
                    <a:solidFill>
                      <a:srgbClr val="EDF3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0B122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Version below an active requirement</a:t>
                      </a:r>
                    </a:p>
                  </a:txBody>
                  <a:tcPr marL="91440" marR="91440" marT="45720" marB="45720" anchor="ctr">
                    <a:solidFill>
                      <a:srgbClr val="EDF3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AB475-3520-46CF-8C02-A57BE927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613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1613E"/>
                </a:solidFill>
                <a:latin typeface="Nimbus Sans"/>
                <a:ea typeface="Nimbus Sans"/>
                <a:cs typeface="Nimbus Sans"/>
              </a:rPr>
              <a:t>Unproven conditions go to review. They do not become blocking findings.</a:t>
            </a:r>
          </a:p>
        </p:txBody>
      </p:sp>
    </p:spTree>
    <p:extLst>
      <p:ext uri="{BB962C8B-B14F-4D97-AF65-F5344CB8AC3E}">
        <p14:creationId xmlns:p14="http://schemas.microsoft.com/office/powerpoint/2010/main" val="1073550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239125" y="2762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71"/>
            </a:solidFill>
            <a:prstDash val="solid"/>
            <a:tailEnd type="triangle" w="sm" len="sm"/>
          </a:ln>
        </p:spPr>
      </p:cxnSp>
      <p:cxnSp>
        <p:nvCxnSpPr>
          <p:cNvPr id="1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572125" y="2762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71"/>
            </a:solidFill>
            <a:prstDash val="solid"/>
            <a:tailEnd type="triangle" w="sm" len="sm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67000" y="2762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71"/>
            </a:solidFill>
            <a:prstDash val="solid"/>
            <a:tailEnd type="triangle" w="sm" len="sm"/>
          </a:ln>
        </p:spPr>
      </p:cxnSp>
      <p:sp>
        <p:nvSpPr>
          <p:cNvPr id="1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72AE7BB-D7AB-4128-A8FA-5A918943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6EA0D-9401-441E-B14A-356C9B72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Read-only inspection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E747B-0521-454A-B94D-F8A9DD00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B8E17-BDCB-4FDC-A471-342D568D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1952625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9525">
            <a:solidFill>
              <a:srgbClr val="E7F0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Project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F2A72-BFE3-4754-81A5-B42980DE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0"/>
            <a:ext cx="2333625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DF4E7"/>
          </a:solidFill>
          <a:ln xmlns:a="http://schemas.openxmlformats.org/drawingml/2006/main" w="9525">
            <a:solidFill>
              <a:srgbClr val="DDF4E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Evidence collection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42338-82A5-4355-8564-EAB8DFF5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86000"/>
            <a:ext cx="2095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0D3"/>
          </a:solidFill>
          <a:ln xmlns:a="http://schemas.openxmlformats.org/drawingml/2006/main" w="9525">
            <a:solidFill>
              <a:srgbClr val="FFF0D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Rule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C0E37-9599-42B9-8BBD-6B19B7D0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86000"/>
            <a:ext cx="26670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9ECEF"/>
          </a:solidFill>
          <a:ln xmlns:a="http://schemas.openxmlformats.org/drawingml/2006/main" w="9525">
            <a:solidFill>
              <a:srgbClr val="E9ECE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Human or JSON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A5589-2601-4DE2-9399-CC46D37C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05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Source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6AEF1-DC1F-4A31-B1DC-D72237DF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05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Descriptors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1E802-2FA2-41A7-94A8-AFCB4C36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05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Local Git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02341-7D07-4A3A-B6F4-FB3A5340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53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613E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1613E"/>
                </a:solidFill>
                <a:latin typeface="Nimbus Sans"/>
                <a:ea typeface="Nimbus Sans"/>
                <a:cs typeface="Nimbus Sans"/>
              </a:rPr>
              <a:t>Same findings and decision in both output formats</a:t>
            </a:r>
          </a:p>
        </p:txBody>
      </p:sp>
    </p:spTree>
    <p:extLst>
      <p:ext uri="{BB962C8B-B14F-4D97-AF65-F5344CB8AC3E}">
        <p14:creationId xmlns:p14="http://schemas.microsoft.com/office/powerpoint/2010/main" val="17841349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286750" y="3762375"/>
            <a:ext cx="47625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9D61"/>
            </a:solidFill>
            <a:prstDash val="solid"/>
            <a:tailEnd type="triangle" w="sm" len="sm"/>
          </a:ln>
        </p:spPr>
      </p:cxnSp>
      <p:cxnSp>
        <p:nvCxnSpPr>
          <p:cNvPr id="2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8286750" y="3619500"/>
            <a:ext cx="4762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77B12"/>
            </a:solidFill>
            <a:prstDash val="solid"/>
            <a:tailEnd type="triangle" w="sm" len="sm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15000" y="3000375"/>
            <a:ext cx="47625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71"/>
            </a:solidFill>
            <a:prstDash val="solid"/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715000" y="1952625"/>
            <a:ext cx="30480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53C3C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52750" y="3000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71"/>
            </a:solidFill>
            <a:prstDash val="solid"/>
            <a:tailEnd type="triangle" w="sm" len="sm"/>
          </a:ln>
        </p:spPr>
      </p:cxnSp>
      <p:sp>
        <p:nvSpPr>
          <p:cNvPr id="2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AC511B0-7AD7-4230-A161-AE7CE9E1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65EC6-6707-4615-8AF7-FF3EF0E3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Decision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62E6B-448D-4EEC-A46E-DAA9D7F6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C5827-44EE-400A-A868-15EB9777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1907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9525">
            <a:solidFill>
              <a:srgbClr val="E7F0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Collected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C2E26-472B-4E9A-8EF7-505F8AA3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20955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Proven violation?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C5D62-EF53-458D-A4E3-1AB4C5F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76375"/>
            <a:ext cx="2381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CE5E5"/>
          </a:solidFill>
          <a:ln xmlns:a="http://schemas.openxmlformats.org/drawingml/2006/main" w="9525">
            <a:solidFill>
              <a:srgbClr val="FCE5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3C3C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C53C3C"/>
                </a:solidFill>
                <a:latin typeface="Nimbus Sans"/>
                <a:ea typeface="Nimbus Sans"/>
                <a:cs typeface="Nimbus Sans"/>
              </a:rPr>
              <a:t>DO NOT RELEASE</a:t>
            </a:r>
          </a:p>
          <a:p xmlns:a="http://schemas.openxmlformats.org/drawingml/2006/main">
            <a:pPr algn="ctr">
              <a:defRPr sz="1650" b="1">
                <a:solidFill>
                  <a:srgbClr val="C53C3C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C53C3C"/>
                </a:solidFill>
                <a:latin typeface="Nimbus Sans"/>
                <a:ea typeface="Nimbus Sans"/>
                <a:cs typeface="Nimbus Sans"/>
              </a:rPr>
              <a:t>Exit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F680A-DECB-47F1-9718-21C668F7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0955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Evidence complete?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6C44B-AB74-4641-A678-6E9BCF80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381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0D3"/>
          </a:solidFill>
          <a:ln xmlns:a="http://schemas.openxmlformats.org/drawingml/2006/main" w="9525">
            <a:solidFill>
              <a:srgbClr val="FFF0D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7B12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C77B12"/>
                </a:solidFill>
                <a:latin typeface="Nimbus Sans"/>
                <a:ea typeface="Nimbus Sans"/>
                <a:cs typeface="Nimbus Sans"/>
              </a:rPr>
              <a:t>REVIEW REQUIRED</a:t>
            </a:r>
          </a:p>
          <a:p xmlns:a="http://schemas.openxmlformats.org/drawingml/2006/main">
            <a:pPr algn="ctr">
              <a:defRPr sz="1650" b="1">
                <a:solidFill>
                  <a:srgbClr val="C77B12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C77B12"/>
                </a:solidFill>
                <a:latin typeface="Nimbus Sans"/>
                <a:ea typeface="Nimbus Sans"/>
                <a:cs typeface="Nimbus Sans"/>
              </a:rPr>
              <a:t>Exit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F29B3-F553-4455-BCF3-F4B33733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0125"/>
            <a:ext cx="2381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DF4E7"/>
          </a:solidFill>
          <a:ln xmlns:a="http://schemas.openxmlformats.org/drawingml/2006/main" w="9525">
            <a:solidFill>
              <a:srgbClr val="DDF4E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613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1613E"/>
                </a:solidFill>
                <a:latin typeface="Nimbus Sans"/>
                <a:ea typeface="Nimbus Sans"/>
                <a:cs typeface="Nimbus Sans"/>
              </a:rPr>
              <a:t>PASS</a:t>
            </a:r>
          </a:p>
          <a:p xmlns:a="http://schemas.openxmlformats.org/drawingml/2006/main">
            <a:pPr algn="ctr">
              <a:defRPr sz="1650" b="1">
                <a:solidFill>
                  <a:srgbClr val="11613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1613E"/>
                </a:solidFill>
                <a:latin typeface="Nimbus Sans"/>
                <a:ea typeface="Nimbus Sans"/>
                <a:cs typeface="Nimbus Sans"/>
              </a:rPr>
              <a:t>Exit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D5406-E106-4977-829C-177BC04B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716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3C3C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C53C3C"/>
                </a:solidFill>
                <a:latin typeface="Nimbus Sans"/>
                <a:ea typeface="Nimbus Sans"/>
                <a:cs typeface="Nimbus Sans"/>
              </a:rPr>
              <a:t>Yes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360D6-4843-4578-A300-3C896359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67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17784-63DB-4FE2-BCD1-08D0AA0C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7B12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C77B12"/>
                </a:solidFill>
                <a:latin typeface="Nimbus Sans"/>
                <a:ea typeface="Nimbus Sans"/>
                <a:cs typeface="Nimbus Sans"/>
              </a:rPr>
              <a:t>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F20FE-54E8-43BB-8A2D-87A624F8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48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613E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1613E"/>
                </a:solidFill>
                <a:latin typeface="Nimbus Sans"/>
                <a:ea typeface="Nimbus Sans"/>
                <a:cs typeface="Nimbus Sans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9856417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6E6D187-6E82-4ACF-9A25-6F244B0D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EAE01-2526-45B4-938D-1D8F6563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Inspection security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40D5D-8EE7-4A46-86FD-19D5C49C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84971-DF6A-4959-95ED-7893F8E0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811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613E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1613E"/>
                </a:solidFill>
                <a:latin typeface="Nimbus Sans"/>
                <a:ea typeface="Nimbus Sans"/>
                <a:cs typeface="Nimbus Sans"/>
              </a:rPr>
              <a:t>Reads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4A784-85C9-4D16-8664-09DF16D8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811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53C3C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C53C3C"/>
                </a:solidFill>
                <a:latin typeface="Nimbus Sans"/>
                <a:ea typeface="Nimbus Sans"/>
                <a:cs typeface="Nimbus Sans"/>
              </a:rPr>
              <a:t>Blocked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335E5-F217-45E1-9B2F-9000641C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61"/>
          </a:solidFill>
          <a:ln xmlns:a="http://schemas.openxmlformats.org/drawingml/2006/main" w="9525">
            <a:solidFill>
              <a:srgbClr val="1F9D6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97DF2-8653-450E-8FA9-505648C4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621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Supported source files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259B1-3A15-41E1-8BB4-6DA442E7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61"/>
          </a:solidFill>
          <a:ln xmlns:a="http://schemas.openxmlformats.org/drawingml/2006/main" w="9525">
            <a:solidFill>
              <a:srgbClr val="1F9D6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541B5-151A-4BC2-9599-BB350E56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432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Generated descriptor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B104B-3A6C-4C0C-AC18-3873C63F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61"/>
          </a:solidFill>
          <a:ln xmlns:a="http://schemas.openxmlformats.org/drawingml/2006/main" w="9525">
            <a:solidFill>
              <a:srgbClr val="1F9D6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8A51F-E7FC-4927-842A-B0CB2308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242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Local committed Git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E688D-BFD7-41B9-9B2D-A9ADAA2F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61"/>
          </a:solidFill>
          <a:ln xmlns:a="http://schemas.openxmlformats.org/drawingml/2006/main" w="9525">
            <a:solidFill>
              <a:srgbClr val="1F9D6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05135-4C91-47C1-BF44-D262809C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053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Project-relative evidence paths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5C071-0549-4DB9-9B9D-8C5B704F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76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3C3C"/>
          </a:solidFill>
          <a:ln xmlns:a="http://schemas.openxmlformats.org/drawingml/2006/main" w="9525">
            <a:solidFill>
              <a:srgbClr val="C53C3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5C4A7-6763-4767-9CEA-31C7722C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621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Project binaries or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5E376-7CA7-4D48-AC84-A37F0156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3C3C"/>
          </a:solidFill>
          <a:ln xmlns:a="http://schemas.openxmlformats.org/drawingml/2006/main" w="9525">
            <a:solidFill>
              <a:srgbClr val="C53C3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46F11-525D-46BA-9751-6FB5FF2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432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Build scripts and generators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4F1D8-4F14-4DA4-A9F1-0F056E50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38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3C3C"/>
          </a:solidFill>
          <a:ln xmlns:a="http://schemas.openxmlformats.org/drawingml/2006/main" w="9525">
            <a:solidFill>
              <a:srgbClr val="C53C3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4236E4-43B1-4BDD-83BE-D5E6FA63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Plugin code and Git hooks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F7714-547C-45FC-BE38-70B9D274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3C3C"/>
          </a:solidFill>
          <a:ln xmlns:a="http://schemas.openxmlformats.org/drawingml/2006/main" w="9525">
            <a:solidFill>
              <a:srgbClr val="C53C3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CB431-1BF6-4EB4-8468-623951D5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053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Writes to the inspected project</a:t>
            </a:r>
          </a:p>
        </p:txBody>
      </p:sp>
    </p:spTree>
    <p:extLst>
      <p:ext uri="{BB962C8B-B14F-4D97-AF65-F5344CB8AC3E}">
        <p14:creationId xmlns:p14="http://schemas.microsoft.com/office/powerpoint/2010/main" val="8180821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5799321-0021-4B9A-8BA5-0DE6659F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EAD68-85F3-40D4-9C5C-1DF2AF1E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Verified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6DCE6-1D34-49F1-9F51-36B09171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3FF3B-126A-4D19-85E7-B590FB58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Official Canopy Go plugin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FC965-3D22-4BE1-B606-82B47B70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613E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1613E"/>
                </a:solidFill>
                <a:latin typeface="Nimbus Sans"/>
                <a:ea typeface="Nimbus Sans"/>
                <a:cs typeface="Nimbus Sans"/>
              </a:rPr>
              <a:t>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5E57D-109D-45FE-9289-2F72AC2B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526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613E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1613E"/>
                </a:solidFill>
                <a:latin typeface="Nimbus Sans"/>
                <a:ea typeface="Nimbus Sans"/>
                <a:cs typeface="Nimbus Sans"/>
              </a:rPr>
              <a:t>0 findings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7684A-99D8-41E9-8DFD-6B380A6B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Commit 5820274b55dcc22b08c48ed7e4c76d953c5e0da6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FE58D-5FC6-4F5F-9D38-07E95D36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D8401-A4E6-42DB-A3CD-F1A2F442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8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Passing fixture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73B69-C56A-4E69-A1D2-393253BC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859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613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1613E"/>
                </a:solidFill>
                <a:latin typeface="Nimbus Sans"/>
                <a:ea typeface="Nimbus Sans"/>
                <a:cs typeface="Nimbus Sans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FC1C5-81B9-4DFA-B431-5C9B69A9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8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Incomplete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75231-4DB6-4D1E-9284-87AE5FB6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28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77B12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C77B12"/>
                </a:solidFill>
                <a:latin typeface="Nimbus Sans"/>
                <a:ea typeface="Nimbus Sans"/>
                <a:cs typeface="Nimbus Sans"/>
              </a:rPr>
              <a:t>REVIEW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889A4-17A9-4F8B-AA8E-0856094A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Confirmed mismatch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7DE8D-78A6-44B8-A670-691CDE60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53C3C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C53C3C"/>
                </a:solidFill>
                <a:latin typeface="Nimbus Sans"/>
                <a:ea typeface="Nimbus Sans"/>
                <a:cs typeface="Nimbus Sans"/>
              </a:rPr>
              <a:t>DO NOT 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C1E53-E3DA-43A9-90CE-D75EF4E9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Full Go test suite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21131-0A03-49ED-AE94-E738C86B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14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613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1613E"/>
                </a:solidFill>
                <a:latin typeface="Nimbus Sans"/>
                <a:ea typeface="Nimbus Sans"/>
                <a:cs typeface="Nimbus Sans"/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CCA3C-4D96-4406-8A98-4AA06518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Race detector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55743-E47A-41E8-9552-4114B8E1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57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613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1613E"/>
                </a:solidFill>
                <a:latin typeface="Nimbus Sans"/>
                <a:ea typeface="Nimbus Sans"/>
                <a:cs typeface="Nimbus Sans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F7078-1445-42DA-8DDF-BCCD6F72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A pass covers the four supported checks. It does not replace normal release testing.</a:t>
            </a:r>
          </a:p>
        </p:txBody>
      </p:sp>
    </p:spTree>
    <p:extLst>
      <p:ext uri="{BB962C8B-B14F-4D97-AF65-F5344CB8AC3E}">
        <p14:creationId xmlns:p14="http://schemas.microsoft.com/office/powerpoint/2010/main" val="10515499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31D88BC-32AC-46E1-85C9-91796B4C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79E60-A27D-4674-93AA-89015ABE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Install and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501B6-99BD-40B5-9A0F-8B5588A3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5B88D-7E1B-4D49-B18F-6D9EC2FB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9D61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F9D61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9CD54-BDE8-4AE8-8552-1BBFA68D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763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Download the correct release binary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7249F-7B7E-4B4C-8516-58FEBE67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716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Linux x86_64 uses linux_amd64. Apple Silicon uses darwin_arm64.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4B537-5E45-4FA6-AD4C-076F4A53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9D61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F9D61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51DF3-C70B-43E0-84B7-5A8D355A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Run the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C932D-33A4-4AFB-A13B-EFC7EE83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72390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canopy-doctor check ./plugin/go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21ACA-BF59-4259-B36F-5C24F0C7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9D61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F9D61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4F2F3-3280-478B-8E57-88CADD8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0B1220"/>
                </a:solidFill>
                <a:latin typeface="Nimbus Sans"/>
                <a:ea typeface="Nimbus Sans"/>
                <a:cs typeface="Nimbus Sans"/>
              </a:rPr>
              <a:t>Add the same command to CI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996C0-7415-4DD0-9BAA-94C78EA3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7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526071"/>
                </a:solidFill>
                <a:latin typeface="Nimbus Sans"/>
                <a:ea typeface="Nimbus Sans"/>
                <a:cs typeface="Nimbus Sans"/>
              </a:rPr>
              <a:t>Use JSON output for automation and pin the Action to a full commit SHA.</a:t>
            </a:r>
          </a:p>
        </p:txBody>
      </p:sp>
    </p:spTree>
    <p:extLst>
      <p:ext uri="{BB962C8B-B14F-4D97-AF65-F5344CB8AC3E}">
        <p14:creationId xmlns:p14="http://schemas.microsoft.com/office/powerpoint/2010/main" val="978210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2026-10-05T10:37:07.4650000Z</dcterms:created>
  <dcterms:modified xsi:type="dcterms:W3CDTF">2026-10-05T10:37:07.4660000Z</dcterms:modified>
</coreProperties>
</file>